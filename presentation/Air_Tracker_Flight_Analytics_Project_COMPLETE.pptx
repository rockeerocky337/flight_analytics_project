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789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ptos Display"/>
              </a:defRPr>
            </a:pPr>
            <a:r>
              <a:t>✈ Air Tracker – Flight Analytics</a:t>
            </a:r>
          </a:p>
          <a:p>
            <a:pPr>
              <a:defRPr sz="1800">
                <a:solidFill>
                  <a:srgbClr val="BED7F0"/>
                </a:solidFill>
              </a:defRPr>
            </a:pPr>
            <a:r>
              <a:t>End-to-End Flight Data Analytics using MySQL, Python, Pandas, Plotly &amp; Streamlit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977639"/>
            <a:ext cx="2423160" cy="1097280"/>
          </a:xfrm>
          <a:prstGeom prst="roundRect">
            <a:avLst/>
          </a:prstGeom>
          <a:solidFill>
            <a:srgbClr val="142A4B"/>
          </a:solidFill>
          <a:ln>
            <a:solidFill>
              <a:srgbClr val="1FAA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BECDE1"/>
                </a:solidFill>
              </a:defRPr>
            </a:pPr>
            <a:r>
              <a:t>FLIGHTS</a:t>
            </a:r>
          </a:p>
          <a:p>
            <a:pPr>
              <a:defRPr sz="2500" b="1">
                <a:solidFill>
                  <a:srgbClr val="1FAAC4"/>
                </a:solidFill>
              </a:defRPr>
            </a:pPr>
            <a:r>
              <a:t>300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20439" y="3977639"/>
            <a:ext cx="2423160" cy="1097280"/>
          </a:xfrm>
          <a:prstGeom prst="roundRect">
            <a:avLst/>
          </a:prstGeom>
          <a:solidFill>
            <a:srgbClr val="142A4B"/>
          </a:solidFill>
          <a:ln>
            <a:solidFill>
              <a:srgbClr val="1FAA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BECDE1"/>
                </a:solidFill>
              </a:defRPr>
            </a:pPr>
            <a:r>
              <a:t>AIRPORTS</a:t>
            </a:r>
          </a:p>
          <a:p>
            <a:pPr>
              <a:defRPr sz="2500" b="1">
                <a:solidFill>
                  <a:srgbClr val="1FAAC4"/>
                </a:solidFill>
              </a:defRPr>
            </a:pPr>
            <a: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59" y="3977639"/>
            <a:ext cx="2423160" cy="1097280"/>
          </a:xfrm>
          <a:prstGeom prst="roundRect">
            <a:avLst/>
          </a:prstGeom>
          <a:solidFill>
            <a:srgbClr val="142A4B"/>
          </a:solidFill>
          <a:ln>
            <a:solidFill>
              <a:srgbClr val="1FAA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BECDE1"/>
                </a:solidFill>
              </a:defRPr>
            </a:pPr>
            <a:r>
              <a:t>AIRCRAFT</a:t>
            </a:r>
          </a:p>
          <a:p>
            <a:pPr>
              <a:defRPr sz="2500" b="1">
                <a:solidFill>
                  <a:srgbClr val="1FAAC4"/>
                </a:solidFill>
              </a:defRPr>
            </a:pPr>
            <a:r>
              <a:t>44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98280" y="3977639"/>
            <a:ext cx="2423160" cy="1097280"/>
          </a:xfrm>
          <a:prstGeom prst="roundRect">
            <a:avLst/>
          </a:prstGeom>
          <a:solidFill>
            <a:srgbClr val="142A4B"/>
          </a:solidFill>
          <a:ln>
            <a:solidFill>
              <a:srgbClr val="1FAA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BECDE1"/>
                </a:solidFill>
              </a:defRPr>
            </a:pPr>
            <a:r>
              <a:t>DELAY RECORDS</a:t>
            </a:r>
          </a:p>
          <a:p>
            <a:pPr>
              <a:defRPr sz="2500" b="1">
                <a:solidFill>
                  <a:srgbClr val="1FAAC4"/>
                </a:solidFill>
              </a:defRPr>
            </a:pPr>
            <a:r>
              <a:t>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482"/>
                </a:solidFill>
              </a:defRPr>
            </a:pPr>
            <a:r>
              <a:t>Air Tracker – Flight Analytics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C1930"/>
                </a:solidFill>
                <a:latin typeface="Aptos Display"/>
              </a:defRPr>
            </a:pPr>
            <a:r>
              <a:t>Project Overview</a:t>
            </a:r>
          </a:p>
          <a:p>
            <a:pPr>
              <a:defRPr sz="1100">
                <a:solidFill>
                  <a:srgbClr val="697482"/>
                </a:solidFill>
              </a:defRPr>
            </a:pPr>
            <a:r>
              <a:t>Purpose and implemented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25303F"/>
                </a:solidFill>
                <a:latin typeface="Aptos"/>
              </a:defRPr>
            </a:pPr>
            <a:r>
              <a:t>• Relational flight analytics solution built around the flight_analytics MySQL database.</a:t>
            </a:r>
          </a:p>
          <a:p>
            <a:pPr>
              <a:spcAft>
                <a:spcPts val="700"/>
              </a:spcAft>
              <a:defRPr sz="1600">
                <a:solidFill>
                  <a:srgbClr val="25303F"/>
                </a:solidFill>
                <a:latin typeface="Aptos"/>
              </a:defRPr>
            </a:pPr>
            <a:r>
              <a:t>• Python connects to MySQL for database-backed analysis.</a:t>
            </a:r>
          </a:p>
          <a:p>
            <a:pPr>
              <a:spcAft>
                <a:spcPts val="700"/>
              </a:spcAft>
              <a:defRPr sz="1600">
                <a:solidFill>
                  <a:srgbClr val="25303F"/>
                </a:solidFill>
                <a:latin typeface="Aptos"/>
              </a:defRPr>
            </a:pPr>
            <a:r>
              <a:t>• Pandas supports processing and Plotly provides interactive visualizations.</a:t>
            </a:r>
          </a:p>
          <a:p>
            <a:pPr>
              <a:spcAft>
                <a:spcPts val="700"/>
              </a:spcAft>
              <a:defRPr sz="1600">
                <a:solidFill>
                  <a:srgbClr val="25303F"/>
                </a:solidFill>
                <a:latin typeface="Aptos"/>
              </a:defRPr>
            </a:pPr>
            <a:r>
              <a:t>• Streamlit provides KPIs, filters, charts and analytical tables.</a:t>
            </a:r>
          </a:p>
          <a:p>
            <a:pPr>
              <a:spcAft>
                <a:spcPts val="700"/>
              </a:spcAft>
              <a:defRPr sz="1600">
                <a:solidFill>
                  <a:srgbClr val="25303F"/>
                </a:solidFill>
                <a:latin typeface="Aptos"/>
              </a:defRPr>
            </a:pPr>
            <a:r>
              <a:t>• GitHub stores the application, SQL, datasets and documentation.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0" y="1417320"/>
            <a:ext cx="2194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>
              <a:defRPr sz="1100" b="1">
                <a:solidFill>
                  <a:srgbClr val="697482"/>
                </a:solidFill>
              </a:defRPr>
            </a:pPr>
            <a:r>
              <a:t>DATABASE</a:t>
            </a:r>
          </a:p>
          <a:p>
            <a:pPr>
              <a:defRPr sz="1500" b="1">
                <a:solidFill>
                  <a:srgbClr val="2163BE"/>
                </a:solidFill>
              </a:defRPr>
            </a:pPr>
            <a:r>
              <a:t>MySQL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1417320"/>
            <a:ext cx="2194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>
              <a:defRPr sz="1100" b="1">
                <a:solidFill>
                  <a:srgbClr val="697482"/>
                </a:solidFill>
              </a:defRPr>
            </a:pPr>
            <a:r>
              <a:t>DASHBOARD</a:t>
            </a:r>
          </a:p>
          <a:p>
            <a:pPr>
              <a:defRPr sz="1500" b="1">
                <a:solidFill>
                  <a:srgbClr val="1FAAC4"/>
                </a:solidFill>
              </a:defRPr>
            </a:pPr>
            <a:r>
              <a:t>Streamlit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2971800"/>
            <a:ext cx="2194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>
              <a:defRPr sz="1100" b="1">
                <a:solidFill>
                  <a:srgbClr val="697482"/>
                </a:solidFill>
              </a:defRPr>
            </a:pPr>
            <a:r>
              <a:t>ANALYTICS</a:t>
            </a:r>
          </a:p>
          <a:p>
            <a:pPr>
              <a:defRPr sz="1500" b="1">
                <a:solidFill>
                  <a:srgbClr val="23915F"/>
                </a:solidFill>
              </a:defRPr>
            </a:pPr>
            <a:r>
              <a:t>Pandas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2971800"/>
            <a:ext cx="2194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>
              <a:defRPr sz="1100" b="1">
                <a:solidFill>
                  <a:srgbClr val="697482"/>
                </a:solidFill>
              </a:defRPr>
            </a:pPr>
            <a:r>
              <a:t>VISUALS</a:t>
            </a:r>
          </a:p>
          <a:p>
            <a:pPr>
              <a:defRPr sz="1500" b="1">
                <a:solidFill>
                  <a:srgbClr val="E6872D"/>
                </a:solidFill>
              </a:defRPr>
            </a:pPr>
            <a:r>
              <a:t>Plotly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4526280"/>
            <a:ext cx="466344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>
              <a:defRPr sz="1100" b="1">
                <a:solidFill>
                  <a:srgbClr val="697482"/>
                </a:solidFill>
              </a:defRPr>
            </a:pPr>
            <a:r>
              <a:t>SOURCE CONTROL</a:t>
            </a:r>
          </a:p>
          <a:p>
            <a:pPr>
              <a:defRPr sz="1500" b="1">
                <a:solidFill>
                  <a:srgbClr val="0C1930"/>
                </a:solidFill>
              </a:defRPr>
            </a:pPr>
            <a:r>
              <a:t>GitHub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482"/>
                </a:solidFill>
              </a:defRPr>
            </a:pPr>
            <a:r>
              <a:t>Air Tracker – Flight Analytics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C1930"/>
                </a:solidFill>
                <a:latin typeface="Aptos Display"/>
              </a:defRPr>
            </a:pPr>
            <a:r>
              <a:t>Problem Statement &amp; Objectives</a:t>
            </a:r>
          </a:p>
          <a:p>
            <a:pPr>
              <a:defRPr sz="1100">
                <a:solidFill>
                  <a:srgbClr val="697482"/>
                </a:solidFill>
              </a:defRPr>
            </a:pPr>
            <a:r>
              <a:t>Turning flight records into usable operational insights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3035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>
              <a:defRPr sz="1100" b="1">
                <a:solidFill>
                  <a:srgbClr val="697482"/>
                </a:solidFill>
              </a:defRPr>
            </a:pPr>
            <a:r>
              <a:t>PROBLEM STATEMENT</a:t>
            </a:r>
          </a:p>
          <a:p>
            <a:pPr>
              <a:defRPr sz="1500" b="1">
                <a:solidFill>
                  <a:srgbClr val="2163BE"/>
                </a:solidFill>
              </a:defRPr>
            </a:pPr>
            <a:r>
              <a:t>Flight records contain aircraft, airport, route, schedule, status and delay information. The project organizes these records in a relational database and presents analysis through an interactive dashboard.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5303F"/>
                </a:solidFill>
                <a:latin typeface="Aptos"/>
              </a:defRPr>
            </a:pPr>
            <a:r>
              <a:t>• Store flight data in normalized MySQL tables.</a:t>
            </a:r>
          </a:p>
          <a:p>
            <a:pPr>
              <a:spcAft>
                <a:spcPts val="700"/>
              </a:spcAft>
              <a:defRPr sz="1500">
                <a:solidFill>
                  <a:srgbClr val="25303F"/>
                </a:solidFill>
                <a:latin typeface="Aptos"/>
              </a:defRPr>
            </a:pPr>
            <a:r>
              <a:t>• Create relationships between flights, airports, aircraft and delay records.</a:t>
            </a:r>
          </a:p>
          <a:p>
            <a:pPr>
              <a:spcAft>
                <a:spcPts val="700"/>
              </a:spcAft>
              <a:defRPr sz="1500">
                <a:solidFill>
                  <a:srgbClr val="25303F"/>
                </a:solidFill>
                <a:latin typeface="Aptos"/>
              </a:defRPr>
            </a:pPr>
            <a:r>
              <a:t>• Execute all 11 required SQL analyses.</a:t>
            </a:r>
          </a:p>
          <a:p>
            <a:pPr>
              <a:spcAft>
                <a:spcPts val="700"/>
              </a:spcAft>
              <a:defRPr sz="1500">
                <a:solidFill>
                  <a:srgbClr val="25303F"/>
                </a:solidFill>
                <a:latin typeface="Aptos"/>
              </a:defRPr>
            </a:pPr>
            <a:r>
              <a:t>• Provide interactive filters and KPI summaries.</a:t>
            </a:r>
          </a:p>
          <a:p>
            <a:pPr>
              <a:spcAft>
                <a:spcPts val="700"/>
              </a:spcAft>
              <a:defRPr sz="1500">
                <a:solidFill>
                  <a:srgbClr val="25303F"/>
                </a:solidFill>
                <a:latin typeface="Aptos"/>
              </a:defRPr>
            </a:pPr>
            <a:r>
              <a:t>• Visualize status, airline activity, routes and delays.</a:t>
            </a:r>
          </a:p>
          <a:p>
            <a:pPr>
              <a:spcAft>
                <a:spcPts val="700"/>
              </a:spcAft>
              <a:defRPr sz="1500">
                <a:solidFill>
                  <a:srgbClr val="25303F"/>
                </a:solidFill>
                <a:latin typeface="Aptos"/>
              </a:defRPr>
            </a:pPr>
            <a:r>
              <a:t>• Maintain reproducible project files in GitHub.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482"/>
                </a:solidFill>
              </a:defRPr>
            </a:pPr>
            <a:r>
              <a:t>Air Tracker – Flight Analytics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C1930"/>
                </a:solidFill>
                <a:latin typeface="Aptos Display"/>
              </a:defRPr>
            </a:pPr>
            <a:r>
              <a:t>System Architecture &amp; Technology</a:t>
            </a:r>
          </a:p>
          <a:p>
            <a:pPr>
              <a:defRPr sz="1100">
                <a:solidFill>
                  <a:srgbClr val="697482"/>
                </a:solidFill>
              </a:defRPr>
            </a:pPr>
            <a:r>
              <a:t>End-to-end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600200"/>
            <a:ext cx="23317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>
              <a:defRPr sz="1100" b="1">
                <a:solidFill>
                  <a:srgbClr val="697482"/>
                </a:solidFill>
              </a:defRPr>
            </a:pPr>
            <a:r>
              <a:t>CSV DATA</a:t>
            </a:r>
          </a:p>
          <a:p>
            <a:pPr>
              <a:defRPr sz="1500" b="1">
                <a:solidFill>
                  <a:srgbClr val="2163BE"/>
                </a:solidFill>
              </a:defRPr>
            </a:pPr>
            <a:r>
              <a:t>4 datasets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79" y="1600200"/>
            <a:ext cx="23317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>
              <a:defRPr sz="1100" b="1">
                <a:solidFill>
                  <a:srgbClr val="697482"/>
                </a:solidFill>
              </a:defRPr>
            </a:pPr>
            <a:r>
              <a:t>MYSQL</a:t>
            </a:r>
          </a:p>
          <a:p>
            <a:pPr>
              <a:defRPr sz="1500" b="1">
                <a:solidFill>
                  <a:srgbClr val="1FAAC4"/>
                </a:solidFill>
              </a:defRPr>
            </a:pPr>
            <a:r>
              <a:t>4 relational tables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600200"/>
            <a:ext cx="23317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>
              <a:defRPr sz="1100" b="1">
                <a:solidFill>
                  <a:srgbClr val="697482"/>
                </a:solidFill>
              </a:defRPr>
            </a:pPr>
            <a:r>
              <a:t>PYTHON</a:t>
            </a:r>
          </a:p>
          <a:p>
            <a:pPr>
              <a:defRPr sz="1500" b="1">
                <a:solidFill>
                  <a:srgbClr val="23915F"/>
                </a:solidFill>
              </a:defRPr>
            </a:pPr>
            <a:r>
              <a:t>mysql.connector + Pandas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19" y="1600200"/>
            <a:ext cx="23317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>
              <a:defRPr sz="1100" b="1">
                <a:solidFill>
                  <a:srgbClr val="697482"/>
                </a:solidFill>
              </a:defRPr>
            </a:pPr>
            <a:r>
              <a:t>STREAMLIT</a:t>
            </a:r>
          </a:p>
          <a:p>
            <a:pPr>
              <a:defRPr sz="1500" b="1">
                <a:solidFill>
                  <a:srgbClr val="E6872D"/>
                </a:solidFill>
              </a:defRPr>
            </a:pPr>
            <a:r>
              <a:t>KPIs + Filters + Charts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657600"/>
            <a:ext cx="21488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>
              <a:defRPr sz="1100" b="1">
                <a:solidFill>
                  <a:srgbClr val="697482"/>
                </a:solidFill>
              </a:defRPr>
            </a:pPr>
            <a:r>
              <a:t>PYTHON</a:t>
            </a:r>
          </a:p>
          <a:p>
            <a:pPr>
              <a:defRPr sz="1500" b="1">
                <a:solidFill>
                  <a:srgbClr val="2163BE"/>
                </a:solidFill>
              </a:defRPr>
            </a:pPr>
            <a:r>
              <a:t>Application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3657600"/>
            <a:ext cx="21488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>
              <a:defRPr sz="1100" b="1">
                <a:solidFill>
                  <a:srgbClr val="697482"/>
                </a:solidFill>
              </a:defRPr>
            </a:pPr>
            <a:r>
              <a:t>MYSQL</a:t>
            </a:r>
          </a:p>
          <a:p>
            <a:pPr>
              <a:defRPr sz="1500" b="1">
                <a:solidFill>
                  <a:srgbClr val="1FAAC4"/>
                </a:solidFill>
              </a:defRPr>
            </a:pPr>
            <a:r>
              <a:t>Database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77840" y="3657600"/>
            <a:ext cx="21488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>
              <a:defRPr sz="1100" b="1">
                <a:solidFill>
                  <a:srgbClr val="697482"/>
                </a:solidFill>
              </a:defRPr>
            </a:pPr>
            <a:r>
              <a:t>PANDAS</a:t>
            </a:r>
          </a:p>
          <a:p>
            <a:pPr>
              <a:defRPr sz="1500" b="1">
                <a:solidFill>
                  <a:srgbClr val="23915F"/>
                </a:solidFill>
              </a:defRPr>
            </a:pPr>
            <a:r>
              <a:t>Analysis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3657600"/>
            <a:ext cx="21488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>
              <a:defRPr sz="1100" b="1">
                <a:solidFill>
                  <a:srgbClr val="697482"/>
                </a:solidFill>
              </a:defRPr>
            </a:pPr>
            <a:r>
              <a:t>PLOTLY</a:t>
            </a:r>
          </a:p>
          <a:p>
            <a:pPr>
              <a:defRPr sz="1500" b="1">
                <a:solidFill>
                  <a:srgbClr val="E6872D"/>
                </a:solidFill>
              </a:defRPr>
            </a:pPr>
            <a:r>
              <a:t>Charts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241280" y="3657600"/>
            <a:ext cx="12801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>
              <a:defRPr sz="1100" b="1">
                <a:solidFill>
                  <a:srgbClr val="697482"/>
                </a:solidFill>
              </a:defRPr>
            </a:pPr>
            <a:r>
              <a:t>GITHUB</a:t>
            </a:r>
          </a:p>
          <a:p>
            <a:pPr>
              <a:defRPr sz="1500" b="1">
                <a:solidFill>
                  <a:srgbClr val="0C1930"/>
                </a:solidFill>
              </a:defRPr>
            </a:pPr>
            <a:r>
              <a:t>Version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5212080"/>
            <a:ext cx="1060704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>
              <a:defRPr sz="1100" b="1">
                <a:solidFill>
                  <a:srgbClr val="697482"/>
                </a:solidFill>
              </a:defRPr>
            </a:pPr>
            <a:r>
              <a:t>USER FLOW</a:t>
            </a:r>
          </a:p>
          <a:p>
            <a:pPr>
              <a:defRPr sz="1500" b="1">
                <a:solidFill>
                  <a:srgbClr val="0C1930"/>
                </a:solidFill>
              </a:defRPr>
            </a:pPr>
            <a:r>
              <a:t>Select filters → query data → analyze → visualize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482"/>
                </a:solidFill>
              </a:defRPr>
            </a:pPr>
            <a:r>
              <a:t>Air Tracker – Flight Analytics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C1930"/>
                </a:solidFill>
                <a:latin typeface="Aptos Display"/>
              </a:defRPr>
            </a:pPr>
            <a:r>
              <a:t>Database Design &amp; Dataset Validation</a:t>
            </a:r>
          </a:p>
          <a:p>
            <a:pPr>
              <a:defRPr sz="1100">
                <a:solidFill>
                  <a:srgbClr val="697482"/>
                </a:solidFill>
              </a:defRPr>
            </a:pPr>
            <a:r>
              <a:t>Verified working MySQL database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234440"/>
          <a:ext cx="109728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9377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Table</a:t>
                      </a:r>
                    </a:p>
                  </a:txBody>
                  <a:tcPr>
                    <a:solidFill>
                      <a:srgbClr val="0C19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Rows</a:t>
                      </a:r>
                    </a:p>
                  </a:txBody>
                  <a:tcPr>
                    <a:solidFill>
                      <a:srgbClr val="0C19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Primary Key</a:t>
                      </a:r>
                    </a:p>
                  </a:txBody>
                  <a:tcPr>
                    <a:solidFill>
                      <a:srgbClr val="0C19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0C1930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303F"/>
                          </a:solidFill>
                        </a:defRPr>
                      </a:pPr>
                      <a:r>
                        <a:t>aircraft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303F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303F"/>
                          </a:solidFill>
                        </a:defRPr>
                      </a:pPr>
                      <a:r>
                        <a:t>aircraft_id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303F"/>
                          </a:solidFill>
                        </a:defRPr>
                      </a:pPr>
                      <a:r>
                        <a:t>Aircraft master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303F"/>
                          </a:solidFill>
                        </a:defRPr>
                      </a:pPr>
                      <a:r>
                        <a:t>airport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303F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303F"/>
                          </a:solidFill>
                        </a:defRPr>
                      </a:pPr>
                      <a:r>
                        <a:t>airport_id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303F"/>
                          </a:solidFill>
                        </a:defRPr>
                      </a:pPr>
                      <a:r>
                        <a:t>Airport master data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303F"/>
                          </a:solidFill>
                        </a:defRPr>
                      </a:pPr>
                      <a:r>
                        <a:t>flights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303F"/>
                          </a:solidFill>
                        </a:defRPr>
                      </a:pPr>
                      <a:r>
                        <a:t>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303F"/>
                          </a:solidFill>
                        </a:defRPr>
                      </a:pPr>
                      <a:r>
                        <a:t>flight_id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303F"/>
                          </a:solidFill>
                        </a:defRPr>
                      </a:pPr>
                      <a:r>
                        <a:t>Operational flight records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303F"/>
                          </a:solidFill>
                        </a:defRPr>
                      </a:pPr>
                      <a:r>
                        <a:t>airport_delays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303F"/>
                          </a:solidFill>
                        </a:defRPr>
                      </a:pPr>
                      <a:r>
                        <a:t>45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303F"/>
                          </a:solidFill>
                        </a:defRPr>
                      </a:pPr>
                      <a:r>
                        <a:t>delay_id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303F"/>
                          </a:solidFill>
                        </a:defRPr>
                      </a:pPr>
                      <a:r>
                        <a:t>Airport delay statistics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4069080"/>
            <a:ext cx="3383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>
              <a:defRPr sz="1100" b="1">
                <a:solidFill>
                  <a:srgbClr val="697482"/>
                </a:solidFill>
              </a:defRPr>
            </a:pPr>
            <a:r>
              <a:t>FK</a:t>
            </a:r>
          </a:p>
          <a:p>
            <a:pPr>
              <a:defRPr sz="1500" b="1">
                <a:solidFill>
                  <a:srgbClr val="2163BE"/>
                </a:solidFill>
              </a:defRPr>
            </a:pPr>
            <a:r>
              <a:t>flights → aircraft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4069080"/>
            <a:ext cx="3383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>
              <a:defRPr sz="1100" b="1">
                <a:solidFill>
                  <a:srgbClr val="697482"/>
                </a:solidFill>
              </a:defRPr>
            </a:pPr>
            <a:r>
              <a:t>FK</a:t>
            </a:r>
          </a:p>
          <a:p>
            <a:pPr>
              <a:defRPr sz="1500" b="1">
                <a:solidFill>
                  <a:srgbClr val="1FAAC4"/>
                </a:solidFill>
              </a:defRPr>
            </a:pPr>
            <a:r>
              <a:t>flights → airport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4069080"/>
            <a:ext cx="3383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>
              <a:defRPr sz="1100" b="1">
                <a:solidFill>
                  <a:srgbClr val="697482"/>
                </a:solidFill>
              </a:defRPr>
            </a:pPr>
            <a:r>
              <a:t>FK</a:t>
            </a:r>
          </a:p>
          <a:p>
            <a:pPr>
              <a:defRPr sz="1500" b="1">
                <a:solidFill>
                  <a:srgbClr val="23915F"/>
                </a:solidFill>
              </a:defRPr>
            </a:pPr>
            <a:r>
              <a:t>delays → airport</a:t>
            </a:r>
          </a:p>
        </p:txBody>
      </p:sp>
      <p:pic>
        <p:nvPicPr>
          <p:cNvPr id="8" name="Picture 7" descr="1cb6044c-081d-4ed0-9ae3-bcb49045c56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5303520"/>
            <a:ext cx="4937760" cy="138627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482"/>
                </a:solidFill>
              </a:defRPr>
            </a:pPr>
            <a:r>
              <a:t>Air Tracker – Flight Analytics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C1930"/>
                </a:solidFill>
                <a:latin typeface="Aptos Display"/>
              </a:defRPr>
            </a:pPr>
            <a:r>
              <a:t>Required SQL Analysis</a:t>
            </a:r>
          </a:p>
          <a:p>
            <a:pPr>
              <a:defRPr sz="1100">
                <a:solidFill>
                  <a:srgbClr val="697482"/>
                </a:solidFill>
              </a:defRPr>
            </a:pPr>
            <a:r>
              <a:t>All 11 analytical questions implemented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5303F"/>
                </a:solidFill>
                <a:latin typeface="Aptos"/>
              </a:defRPr>
            </a:pPr>
            <a:r>
              <a:t>• 1. Total flights per aircraft model</a:t>
            </a:r>
          </a:p>
          <a:p>
            <a:pPr>
              <a:spcAft>
                <a:spcPts val="700"/>
              </a:spcAft>
              <a:defRPr sz="1400">
                <a:solidFill>
                  <a:srgbClr val="25303F"/>
                </a:solidFill>
                <a:latin typeface="Aptos"/>
              </a:defRPr>
            </a:pPr>
            <a:r>
              <a:t>• 2. Aircraft assigned to &gt;5 flights</a:t>
            </a:r>
          </a:p>
          <a:p>
            <a:pPr>
              <a:spcAft>
                <a:spcPts val="700"/>
              </a:spcAft>
              <a:defRPr sz="1400">
                <a:solidFill>
                  <a:srgbClr val="25303F"/>
                </a:solidFill>
                <a:latin typeface="Aptos"/>
              </a:defRPr>
            </a:pPr>
            <a:r>
              <a:t>• 3. Airports with &gt;5 outbound flights</a:t>
            </a:r>
          </a:p>
          <a:p>
            <a:pPr>
              <a:spcAft>
                <a:spcPts val="700"/>
              </a:spcAft>
              <a:defRPr sz="1400">
                <a:solidFill>
                  <a:srgbClr val="25303F"/>
                </a:solidFill>
                <a:latin typeface="Aptos"/>
              </a:defRPr>
            </a:pPr>
            <a:r>
              <a:t>• 4. Top 3 destination airports by arrivals</a:t>
            </a:r>
          </a:p>
          <a:p>
            <a:pPr>
              <a:spcAft>
                <a:spcPts val="700"/>
              </a:spcAft>
              <a:defRPr sz="1400">
                <a:solidFill>
                  <a:srgbClr val="25303F"/>
                </a:solidFill>
                <a:latin typeface="Aptos"/>
              </a:defRPr>
            </a:pPr>
            <a:r>
              <a:t>• 5. Domestic vs International classification</a:t>
            </a:r>
          </a:p>
          <a:p>
            <a:pPr>
              <a:spcAft>
                <a:spcPts val="700"/>
              </a:spcAft>
              <a:defRPr sz="1400">
                <a:solidFill>
                  <a:srgbClr val="25303F"/>
                </a:solidFill>
                <a:latin typeface="Aptos"/>
              </a:defRPr>
            </a:pPr>
            <a:r>
              <a:t>• 6. Five most recent arrivals at 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28016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5303F"/>
                </a:solidFill>
                <a:latin typeface="Aptos"/>
              </a:defRPr>
            </a:pPr>
            <a:r>
              <a:t>• 7. Airports with no arriving flights</a:t>
            </a:r>
          </a:p>
          <a:p>
            <a:pPr>
              <a:spcAft>
                <a:spcPts val="700"/>
              </a:spcAft>
              <a:defRPr sz="1400">
                <a:solidFill>
                  <a:srgbClr val="25303F"/>
                </a:solidFill>
                <a:latin typeface="Aptos"/>
              </a:defRPr>
            </a:pPr>
            <a:r>
              <a:t>• 8. Airline counts by status using CASE</a:t>
            </a:r>
          </a:p>
          <a:p>
            <a:pPr>
              <a:spcAft>
                <a:spcPts val="700"/>
              </a:spcAft>
              <a:defRPr sz="1400">
                <a:solidFill>
                  <a:srgbClr val="25303F"/>
                </a:solidFill>
                <a:latin typeface="Aptos"/>
              </a:defRPr>
            </a:pPr>
            <a:r>
              <a:t>• 9. Cancelled flights with aircraft and both airports</a:t>
            </a:r>
          </a:p>
          <a:p>
            <a:pPr>
              <a:spcAft>
                <a:spcPts val="700"/>
              </a:spcAft>
              <a:defRPr sz="1400">
                <a:solidFill>
                  <a:srgbClr val="25303F"/>
                </a:solidFill>
                <a:latin typeface="Aptos"/>
              </a:defRPr>
            </a:pPr>
            <a:r>
              <a:t>• 10. City pairs with &gt;2 aircraft models</a:t>
            </a:r>
          </a:p>
          <a:p>
            <a:pPr>
              <a:spcAft>
                <a:spcPts val="700"/>
              </a:spcAft>
              <a:defRPr sz="1400">
                <a:solidFill>
                  <a:srgbClr val="25303F"/>
                </a:solidFill>
                <a:latin typeface="Aptos"/>
              </a:defRPr>
            </a:pPr>
            <a:r>
              <a:t>• 11. Delayed-arrival percentage by destination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482"/>
                </a:solidFill>
              </a:defRPr>
            </a:pPr>
            <a:r>
              <a:t>Air Tracker – Flight Analytics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C1930"/>
                </a:solidFill>
                <a:latin typeface="Aptos Display"/>
              </a:defRPr>
            </a:pPr>
            <a:r>
              <a:t>SQL Results – Aircraft, Airports &amp; Destinations</a:t>
            </a:r>
          </a:p>
          <a:p>
            <a:pPr>
              <a:defRPr sz="1100">
                <a:solidFill>
                  <a:srgbClr val="697482"/>
                </a:solidFill>
              </a:defRPr>
            </a:pPr>
            <a:r>
              <a:t>Examples from executed queries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280160"/>
          <a:ext cx="47548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377440"/>
              </a:tblGrid>
              <a:tr h="391885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Aircraft Model</a:t>
                      </a:r>
                    </a:p>
                  </a:txBody>
                  <a:tcPr>
                    <a:solidFill>
                      <a:srgbClr val="0C19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Flights</a:t>
                      </a:r>
                    </a:p>
                  </a:txBody>
                  <a:tcPr>
                    <a:solidFill>
                      <a:srgbClr val="0C1930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303F"/>
                          </a:solidFill>
                        </a:defRPr>
                      </a:pPr>
                      <a:r>
                        <a:t>A320-214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303F"/>
                          </a:solidFill>
                        </a:defRPr>
                      </a:pPr>
                      <a:r>
                        <a:t>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303F"/>
                          </a:solidFill>
                        </a:defRPr>
                      </a:pPr>
                      <a:r>
                        <a:t>A320-251N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303F"/>
                          </a:solidFill>
                        </a:defRPr>
                      </a:pPr>
                      <a:r>
                        <a:t>60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303F"/>
                          </a:solidFill>
                        </a:defRPr>
                      </a:pPr>
                      <a:r>
                        <a:t>A321-251NX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303F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303F"/>
                          </a:solidFill>
                        </a:defRPr>
                      </a:pPr>
                      <a:r>
                        <a:t>ATR 72-600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303F"/>
                          </a:solidFill>
                        </a:defRPr>
                      </a:pPr>
                      <a:r>
                        <a:t>46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303F"/>
                          </a:solidFill>
                        </a:defRPr>
                      </a:pPr>
                      <a:r>
                        <a:t>B737-8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303F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9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303F"/>
                          </a:solidFill>
                        </a:defRPr>
                      </a:pPr>
                      <a:r>
                        <a:t>B737-800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303F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89320" y="1280160"/>
          <a:ext cx="54406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3560"/>
                <a:gridCol w="1813560"/>
                <a:gridCol w="1813560"/>
              </a:tblGrid>
              <a:tr h="4572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IATA</a:t>
                      </a:r>
                    </a:p>
                  </a:txBody>
                  <a:tcPr>
                    <a:solidFill>
                      <a:srgbClr val="0C19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Airport</a:t>
                      </a:r>
                    </a:p>
                  </a:txBody>
                  <a:tcPr>
                    <a:solidFill>
                      <a:srgbClr val="0C19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Outbound</a:t>
                      </a:r>
                    </a:p>
                  </a:txBody>
                  <a:tcPr>
                    <a:solidFill>
                      <a:srgbClr val="0C193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303F"/>
                          </a:solidFill>
                        </a:defRPr>
                      </a:pPr>
                      <a:r>
                        <a:t>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303F"/>
                          </a:solidFill>
                        </a:defRPr>
                      </a:pPr>
                      <a:r>
                        <a:t>Indira Gandhi International Airport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303F"/>
                          </a:solidFill>
                        </a:defRPr>
                      </a:pPr>
                      <a:r>
                        <a:t>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303F"/>
                          </a:solidFill>
                        </a:defRPr>
                      </a:pPr>
                      <a:r>
                        <a:t>BOM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303F"/>
                          </a:solidFill>
                        </a:defRPr>
                      </a:pPr>
                      <a:r>
                        <a:t>Chhatrapati Shivaji Maharaj International Airport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303F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303F"/>
                          </a:solidFill>
                        </a:defRPr>
                      </a:pPr>
                      <a:r>
                        <a:t>HYD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303F"/>
                          </a:solidFill>
                        </a:defRPr>
                      </a:pPr>
                      <a:r>
                        <a:t>Rajiv Gandhi International Airport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303F"/>
                          </a:solidFill>
                        </a:defRPr>
                      </a:pPr>
                      <a:r>
                        <a:t>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303F"/>
                          </a:solidFill>
                        </a:defRPr>
                      </a:pPr>
                      <a:r>
                        <a:t>BLR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303F"/>
                          </a:solidFill>
                        </a:defRPr>
                      </a:pPr>
                      <a:r>
                        <a:t>Kempegowda International Airport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303F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303F"/>
                          </a:solidFill>
                        </a:defRPr>
                      </a:pPr>
                      <a:r>
                        <a:t>MAA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303F"/>
                          </a:solidFill>
                        </a:defRPr>
                      </a:pPr>
                      <a:r>
                        <a:t>Chennai International Airport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303F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4572000"/>
            <a:ext cx="47548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>
              <a:defRPr sz="1100" b="1">
                <a:solidFill>
                  <a:srgbClr val="697482"/>
                </a:solidFill>
              </a:defRPr>
            </a:pPr>
            <a:r>
              <a:t>TOP DESTINATIONS</a:t>
            </a:r>
          </a:p>
          <a:p>
            <a:pPr>
              <a:defRPr sz="1500" b="1">
                <a:solidFill>
                  <a:srgbClr val="1FAAC4"/>
                </a:solidFill>
              </a:defRPr>
            </a:pPr>
            <a:r>
              <a:t>DEL 72 • BOM 54 • BLR 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0" y="4572000"/>
            <a:ext cx="54406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>
              <a:defRPr sz="1100" b="1">
                <a:solidFill>
                  <a:srgbClr val="697482"/>
                </a:solidFill>
              </a:defRPr>
            </a:pPr>
            <a:r>
              <a:t>ROUTE CLASSIFICATION</a:t>
            </a:r>
          </a:p>
          <a:p>
            <a:pPr>
              <a:defRPr sz="1500" b="1">
                <a:solidFill>
                  <a:srgbClr val="E6872D"/>
                </a:solidFill>
              </a:defRPr>
            </a:pPr>
            <a:r>
              <a:t>CASE compares origin.country with destination.country.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482"/>
                </a:solidFill>
              </a:defRPr>
            </a:pPr>
            <a:r>
              <a:t>Air Tracker – Flight Analytics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C1930"/>
                </a:solidFill>
                <a:latin typeface="Aptos Display"/>
              </a:defRPr>
            </a:pPr>
            <a:r>
              <a:t>Operational SQL Insights</a:t>
            </a:r>
          </a:p>
          <a:p>
            <a:pPr>
              <a:defRPr sz="1100">
                <a:solidFill>
                  <a:srgbClr val="697482"/>
                </a:solidFill>
              </a:defRPr>
            </a:pPr>
            <a:r>
              <a:t>Airline status, recent arrivals and cancelled flights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25880"/>
          <a:ext cx="65836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6736"/>
                <a:gridCol w="1316736"/>
                <a:gridCol w="1316736"/>
                <a:gridCol w="1316736"/>
                <a:gridCol w="1316736"/>
              </a:tblGrid>
              <a:tr h="3429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Airline</a:t>
                      </a:r>
                    </a:p>
                  </a:txBody>
                  <a:tcPr>
                    <a:solidFill>
                      <a:srgbClr val="0C19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Landed</a:t>
                      </a:r>
                    </a:p>
                  </a:txBody>
                  <a:tcPr>
                    <a:solidFill>
                      <a:srgbClr val="0C19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Delayed</a:t>
                      </a:r>
                    </a:p>
                  </a:txBody>
                  <a:tcPr>
                    <a:solidFill>
                      <a:srgbClr val="0C19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Cancelled</a:t>
                      </a:r>
                    </a:p>
                  </a:txBody>
                  <a:tcPr>
                    <a:solidFill>
                      <a:srgbClr val="0C19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0C1930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303F"/>
                          </a:solidFill>
                        </a:defRPr>
                      </a:pPr>
                      <a:r>
                        <a:t>6E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303F"/>
                          </a:solidFill>
                        </a:defRPr>
                      </a:pPr>
                      <a:r>
                        <a:t>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303F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303F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303F"/>
                          </a:solidFill>
                        </a:defRPr>
                      </a:pPr>
                      <a:r>
                        <a:t>124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303F"/>
                          </a:solidFill>
                        </a:defRPr>
                      </a:pPr>
                      <a:r>
                        <a:t>AI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303F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303F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303F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303F"/>
                          </a:solidFill>
                        </a:defRPr>
                      </a:pPr>
                      <a:r>
                        <a:t>63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303F"/>
                          </a:solidFill>
                        </a:defRPr>
                      </a:pPr>
                      <a:r>
                        <a:t>IX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303F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303F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303F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303F"/>
                          </a:solidFill>
                        </a:defRPr>
                      </a:pPr>
                      <a:r>
                        <a:t>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303F"/>
                          </a:solidFill>
                        </a:defRPr>
                      </a:pPr>
                      <a:r>
                        <a:t>QP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303F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303F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303F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303F"/>
                          </a:solidFill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303F"/>
                          </a:solidFill>
                        </a:defRPr>
                      </a:pPr>
                      <a:r>
                        <a:t>9I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303F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303F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303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303F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303F"/>
                          </a:solidFill>
                        </a:defRPr>
                      </a:pPr>
                      <a:r>
                        <a:t>SG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303F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303F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303F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303F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303F"/>
                          </a:solidFill>
                        </a:defRPr>
                      </a:pPr>
                      <a:r>
                        <a:t>UK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303F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303F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303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303F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543800" y="1325880"/>
            <a:ext cx="3749039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>
              <a:defRPr sz="1100" b="1">
                <a:solidFill>
                  <a:srgbClr val="697482"/>
                </a:solidFill>
              </a:defRPr>
            </a:pPr>
            <a:r>
              <a:t>RECENT DEL ARRIVALS</a:t>
            </a:r>
          </a:p>
          <a:p>
            <a:pPr>
              <a:defRPr sz="1500" b="1">
                <a:solidFill>
                  <a:srgbClr val="2163BE"/>
                </a:solidFill>
              </a:defRPr>
            </a:pPr>
            <a:r>
              <a:t>QP826, QP6617, IX1446, IX8467 and SG9253 were returned by the five-most-recent-arrivals query.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43800" y="2971800"/>
            <a:ext cx="3749039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>
              <a:defRPr sz="1100" b="1">
                <a:solidFill>
                  <a:srgbClr val="697482"/>
                </a:solidFill>
              </a:defRPr>
            </a:pPr>
            <a:r>
              <a:t>CANCELLED FLIGHTS</a:t>
            </a:r>
          </a:p>
          <a:p>
            <a:pPr>
              <a:defRPr sz="1500" b="1">
                <a:solidFill>
                  <a:srgbClr val="CD4646"/>
                </a:solidFill>
              </a:defRPr>
            </a:pPr>
            <a:r>
              <a:t>The query returns flight number, aircraft, origin, destination and scheduled departure.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4617720"/>
            <a:ext cx="3749039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>
              <a:defRPr sz="1100" b="1">
                <a:solidFill>
                  <a:srgbClr val="697482"/>
                </a:solidFill>
              </a:defRPr>
            </a:pPr>
            <a:r>
              <a:t>STATUS COUNTS</a:t>
            </a:r>
          </a:p>
          <a:p>
            <a:pPr>
              <a:defRPr sz="1500" b="1">
                <a:solidFill>
                  <a:srgbClr val="23915F"/>
                </a:solidFill>
              </a:defRPr>
            </a:pPr>
            <a:r>
              <a:t>CASE expressions calculate each airline's status totals.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482"/>
                </a:solidFill>
              </a:defRPr>
            </a:pPr>
            <a:r>
              <a:t>Air Tracker – Flight Analytics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C1930"/>
                </a:solidFill>
                <a:latin typeface="Aptos Display"/>
              </a:defRPr>
            </a:pPr>
            <a:r>
              <a:t>Route &amp; Delay Analysis</a:t>
            </a:r>
          </a:p>
          <a:p>
            <a:pPr>
              <a:defRPr sz="1100">
                <a:solidFill>
                  <a:srgbClr val="697482"/>
                </a:solidFill>
              </a:defRPr>
            </a:pPr>
            <a:r>
              <a:t>Examples of deeper analytical results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25880"/>
          <a:ext cx="539496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8320"/>
                <a:gridCol w="1798320"/>
                <a:gridCol w="1798320"/>
              </a:tblGrid>
              <a:tr h="37882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Origin</a:t>
                      </a:r>
                    </a:p>
                  </a:txBody>
                  <a:tcPr>
                    <a:solidFill>
                      <a:srgbClr val="0C19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Destination</a:t>
                      </a:r>
                    </a:p>
                  </a:txBody>
                  <a:tcPr>
                    <a:solidFill>
                      <a:srgbClr val="0C19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Aircraft Models</a:t>
                      </a:r>
                    </a:p>
                  </a:txBody>
                  <a:tcPr>
                    <a:solidFill>
                      <a:srgbClr val="0C1930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303F"/>
                          </a:solidFill>
                        </a:defRPr>
                      </a:pPr>
                      <a:r>
                        <a:t>Hyderabad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303F"/>
                          </a:solidFill>
                        </a:defRPr>
                      </a:pPr>
                      <a:r>
                        <a:t>Mumbai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303F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303F"/>
                          </a:solidFill>
                        </a:defRPr>
                      </a:pPr>
                      <a:r>
                        <a:t>Chennai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303F"/>
                          </a:solidFill>
                        </a:defRPr>
                      </a:pPr>
                      <a:r>
                        <a:t>Mumbai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303F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303F"/>
                          </a:solidFill>
                        </a:defRPr>
                      </a:pPr>
                      <a:r>
                        <a:t>Kolkata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303F"/>
                          </a:solidFill>
                        </a:defRPr>
                      </a:pPr>
                      <a:r>
                        <a:t>Delhi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303F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303F"/>
                          </a:solidFill>
                        </a:defRPr>
                      </a:pPr>
                      <a:r>
                        <a:t>Bengaluru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303F"/>
                          </a:solidFill>
                        </a:defRPr>
                      </a:pPr>
                      <a:r>
                        <a:t>Chennai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303F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303F"/>
                          </a:solidFill>
                        </a:defRPr>
                      </a:pPr>
                      <a:r>
                        <a:t>Mumbai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303F"/>
                          </a:solidFill>
                        </a:defRPr>
                      </a:pPr>
                      <a:r>
                        <a:t>Bengaluru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303F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8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303F"/>
                          </a:solidFill>
                        </a:defRPr>
                      </a:pPr>
                      <a:r>
                        <a:t>Ahmedabad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303F"/>
                          </a:solidFill>
                        </a:defRPr>
                      </a:pPr>
                      <a:r>
                        <a:t>Delhi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303F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63640" y="1325880"/>
          <a:ext cx="493776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1234440"/>
                <a:gridCol w="1234440"/>
                <a:gridCol w="1234440"/>
              </a:tblGrid>
              <a:tr h="37882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Airport</a:t>
                      </a:r>
                    </a:p>
                  </a:txBody>
                  <a:tcPr>
                    <a:solidFill>
                      <a:srgbClr val="0C19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Arrivals</a:t>
                      </a:r>
                    </a:p>
                  </a:txBody>
                  <a:tcPr>
                    <a:solidFill>
                      <a:srgbClr val="0C19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Delayed</a:t>
                      </a:r>
                    </a:p>
                  </a:txBody>
                  <a:tcPr>
                    <a:solidFill>
                      <a:srgbClr val="0C19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%</a:t>
                      </a:r>
                    </a:p>
                  </a:txBody>
                  <a:tcPr>
                    <a:solidFill>
                      <a:srgbClr val="0C1930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303F"/>
                          </a:solidFill>
                        </a:defRPr>
                      </a:pPr>
                      <a:r>
                        <a:t>BBI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303F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303F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303F"/>
                          </a:solidFill>
                        </a:defRPr>
                      </a:pPr>
                      <a:r>
                        <a:t>40.00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303F"/>
                          </a:solidFill>
                        </a:defRPr>
                      </a:pPr>
                      <a:r>
                        <a:t>COK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303F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303F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303F"/>
                          </a:solidFill>
                        </a:defRPr>
                      </a:pPr>
                      <a:r>
                        <a:t>36.36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303F"/>
                          </a:solidFill>
                        </a:defRPr>
                      </a:pPr>
                      <a:r>
                        <a:t>BLR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303F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303F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303F"/>
                          </a:solidFill>
                        </a:defRPr>
                      </a:pPr>
                      <a:r>
                        <a:t>33.33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303F"/>
                          </a:solidFill>
                        </a:defRPr>
                      </a:pPr>
                      <a:r>
                        <a:t>VGA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303F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303F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303F"/>
                          </a:solidFill>
                        </a:defRPr>
                      </a:pPr>
                      <a:r>
                        <a:t>33.33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303F"/>
                          </a:solidFill>
                        </a:defRPr>
                      </a:pPr>
                      <a:r>
                        <a:t>BOM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303F"/>
                          </a:solidFill>
                        </a:defRPr>
                      </a:pPr>
                      <a:r>
                        <a:t>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303F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303F"/>
                          </a:solidFill>
                        </a:defRPr>
                      </a:pPr>
                      <a:r>
                        <a:t>24.07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8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303F"/>
                          </a:solidFill>
                        </a:defRPr>
                      </a:pPr>
                      <a:r>
                        <a:t>HYD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303F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303F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5303F"/>
                          </a:solidFill>
                        </a:defRPr>
                      </a:pPr>
                      <a:r>
                        <a:t>24.00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4572000"/>
            <a:ext cx="105156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>
              <a:defRPr sz="1100" b="1">
                <a:solidFill>
                  <a:srgbClr val="697482"/>
                </a:solidFill>
              </a:defRPr>
            </a:pPr>
            <a:r>
              <a:t>FORMULA</a:t>
            </a:r>
          </a:p>
          <a:p>
            <a:pPr>
              <a:defRPr sz="1500" b="1">
                <a:solidFill>
                  <a:srgbClr val="23915F"/>
                </a:solidFill>
              </a:defRPr>
            </a:pPr>
            <a:r>
              <a:t>Delayed-arrival percentage = delayed arrivals ÷ total arrivals × 100.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482"/>
                </a:solidFill>
              </a:defRPr>
            </a:pPr>
            <a:r>
              <a:t>Air Tracker – Flight Analytics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C1930"/>
                </a:solidFill>
                <a:latin typeface="Aptos Display"/>
              </a:defRPr>
            </a:pPr>
            <a:r>
              <a:t>Streamlit Dashboard</a:t>
            </a:r>
          </a:p>
          <a:p>
            <a:pPr>
              <a:defRPr sz="1100">
                <a:solidFill>
                  <a:srgbClr val="697482"/>
                </a:solidFill>
              </a:defRPr>
            </a:pPr>
            <a:r>
              <a:t>Implemented and tested locally</a:t>
            </a:r>
          </a:p>
        </p:txBody>
      </p:sp>
      <p:pic>
        <p:nvPicPr>
          <p:cNvPr id="4" name="Picture 3" descr="a0a54fef-b10b-4850-b456-c9c6137ec4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143000"/>
            <a:ext cx="7223760" cy="378603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37160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5303F"/>
                </a:solidFill>
                <a:latin typeface="Aptos"/>
              </a:defRPr>
            </a:pPr>
            <a:r>
              <a:t>• 300 total flights</a:t>
            </a:r>
          </a:p>
          <a:p>
            <a:pPr>
              <a:spcAft>
                <a:spcPts val="700"/>
              </a:spcAft>
              <a:defRPr sz="1400">
                <a:solidFill>
                  <a:srgbClr val="25303F"/>
                </a:solidFill>
                <a:latin typeface="Aptos"/>
              </a:defRPr>
            </a:pPr>
            <a:r>
              <a:t>• 57 delayed flights</a:t>
            </a:r>
          </a:p>
          <a:p>
            <a:pPr>
              <a:spcAft>
                <a:spcPts val="700"/>
              </a:spcAft>
              <a:defRPr sz="1400">
                <a:solidFill>
                  <a:srgbClr val="25303F"/>
                </a:solidFill>
                <a:latin typeface="Aptos"/>
              </a:defRPr>
            </a:pPr>
            <a:r>
              <a:t>• 16 cancelled flights</a:t>
            </a:r>
          </a:p>
          <a:p>
            <a:pPr>
              <a:spcAft>
                <a:spcPts val="700"/>
              </a:spcAft>
              <a:defRPr sz="1400">
                <a:solidFill>
                  <a:srgbClr val="25303F"/>
                </a:solidFill>
                <a:latin typeface="Aptos"/>
              </a:defRPr>
            </a:pPr>
            <a:r>
              <a:t>• 19.00% delay rate</a:t>
            </a:r>
          </a:p>
          <a:p>
            <a:pPr>
              <a:spcAft>
                <a:spcPts val="700"/>
              </a:spcAft>
              <a:defRPr sz="1400">
                <a:solidFill>
                  <a:srgbClr val="25303F"/>
                </a:solidFill>
                <a:latin typeface="Aptos"/>
              </a:defRPr>
            </a:pPr>
            <a:r>
              <a:t>• Airline and status filters</a:t>
            </a:r>
          </a:p>
          <a:p>
            <a:pPr>
              <a:spcAft>
                <a:spcPts val="700"/>
              </a:spcAft>
              <a:defRPr sz="1400">
                <a:solidFill>
                  <a:srgbClr val="25303F"/>
                </a:solidFill>
                <a:latin typeface="Aptos"/>
              </a:defRPr>
            </a:pPr>
            <a:r>
              <a:t>• Origin and destination filters</a:t>
            </a:r>
          </a:p>
          <a:p>
            <a:pPr>
              <a:spcAft>
                <a:spcPts val="700"/>
              </a:spcAft>
              <a:defRPr sz="1400">
                <a:solidFill>
                  <a:srgbClr val="25303F"/>
                </a:solidFill>
                <a:latin typeface="Aptos"/>
              </a:defRPr>
            </a:pPr>
            <a:r>
              <a:t>• Interactive charts and tables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482"/>
                </a:solidFill>
              </a:defRPr>
            </a:pPr>
            <a:r>
              <a:t>Air Tracker – Flight Analytics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C1930"/>
                </a:solidFill>
                <a:latin typeface="Aptos Display"/>
              </a:defRPr>
            </a:pPr>
            <a:r>
              <a:t>Testing, GitHub &amp; Deliverables</a:t>
            </a:r>
          </a:p>
          <a:p>
            <a:pPr>
              <a:defRPr sz="1100">
                <a:solidFill>
                  <a:srgbClr val="697482"/>
                </a:solidFill>
              </a:defRPr>
            </a:pPr>
            <a:r>
              <a:t>Final implementation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5303F"/>
                </a:solidFill>
                <a:latin typeface="Aptos"/>
              </a:defRPr>
            </a:pPr>
            <a:r>
              <a:t>• Git: working tree clean and synchronized with origin/main.</a:t>
            </a:r>
          </a:p>
          <a:p>
            <a:pPr>
              <a:spcAft>
                <a:spcPts val="700"/>
              </a:spcAft>
              <a:defRPr sz="1400">
                <a:solidFill>
                  <a:srgbClr val="25303F"/>
                </a:solidFill>
                <a:latin typeface="Aptos"/>
              </a:defRPr>
            </a:pPr>
            <a:r>
              <a:t>• Python: virtual environment active.</a:t>
            </a:r>
          </a:p>
          <a:p>
            <a:pPr>
              <a:spcAft>
                <a:spcPts val="700"/>
              </a:spcAft>
              <a:defRPr sz="1400">
                <a:solidFill>
                  <a:srgbClr val="25303F"/>
                </a:solidFill>
                <a:latin typeface="Aptos"/>
              </a:defRPr>
            </a:pPr>
            <a:r>
              <a:t>• Packages: requirements.txt installed successfully.</a:t>
            </a:r>
          </a:p>
          <a:p>
            <a:pPr>
              <a:spcAft>
                <a:spcPts val="700"/>
              </a:spcAft>
              <a:defRPr sz="1400">
                <a:solidFill>
                  <a:srgbClr val="25303F"/>
                </a:solidFill>
                <a:latin typeface="Aptos"/>
              </a:defRPr>
            </a:pPr>
            <a:r>
              <a:t>• MySQL: Python connection test returned “MySQL connection successful!”.</a:t>
            </a:r>
          </a:p>
          <a:p>
            <a:pPr>
              <a:spcAft>
                <a:spcPts val="700"/>
              </a:spcAft>
              <a:defRPr sz="1400">
                <a:solidFill>
                  <a:srgbClr val="25303F"/>
                </a:solidFill>
                <a:latin typeface="Aptos"/>
              </a:defRPr>
            </a:pPr>
            <a:r>
              <a:t>• Database: 44 / 15 / 45 / 300 records verified.</a:t>
            </a:r>
          </a:p>
          <a:p>
            <a:pPr>
              <a:spcAft>
                <a:spcPts val="700"/>
              </a:spcAft>
              <a:defRPr sz="1400">
                <a:solidFill>
                  <a:srgbClr val="25303F"/>
                </a:solidFill>
                <a:latin typeface="Aptos"/>
              </a:defRPr>
            </a:pPr>
            <a:r>
              <a:t>• SQL: required analyses executed successfully.</a:t>
            </a:r>
          </a:p>
          <a:p>
            <a:pPr>
              <a:spcAft>
                <a:spcPts val="700"/>
              </a:spcAft>
              <a:defRPr sz="1400">
                <a:solidFill>
                  <a:srgbClr val="25303F"/>
                </a:solidFill>
                <a:latin typeface="Aptos"/>
              </a:defRPr>
            </a:pPr>
            <a:r>
              <a:t>• Streamlit: launched at localhost:8501 and filters tested.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0" y="1325880"/>
          <a:ext cx="50292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509451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Repository Component</a:t>
                      </a:r>
                    </a:p>
                  </a:txBody>
                  <a:tcPr>
                    <a:solidFill>
                      <a:srgbClr val="0C19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File / Folder</a:t>
                      </a:r>
                    </a:p>
                  </a:txBody>
                  <a:tcPr>
                    <a:solidFill>
                      <a:srgbClr val="0C1930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303F"/>
                          </a:solidFill>
                        </a:defRPr>
                      </a:pPr>
                      <a:r>
                        <a:t>Application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303F"/>
                          </a:solidFill>
                        </a:defRPr>
                      </a:pPr>
                      <a:r>
                        <a:t>app.py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303F"/>
                          </a:solidFill>
                        </a:defRPr>
                      </a:pPr>
                      <a:r>
                        <a:t>Database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303F"/>
                          </a:solidFill>
                        </a:defRPr>
                      </a:pPr>
                      <a:r>
                        <a:t>sql/01_create_database.sql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303F"/>
                          </a:solidFill>
                        </a:defRPr>
                      </a:pPr>
                      <a:r>
                        <a:t>Analysis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303F"/>
                          </a:solidFill>
                        </a:defRPr>
                      </a:pPr>
                      <a:r>
                        <a:t>sql/04_project_required_queries.sql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303F"/>
                          </a:solidFill>
                        </a:defRPr>
                      </a:pPr>
                      <a:r>
                        <a:t>Data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303F"/>
                          </a:solidFill>
                        </a:defRPr>
                      </a:pPr>
                      <a:r>
                        <a:t>data/*.csv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303F"/>
                          </a:solidFill>
                        </a:defRPr>
                      </a:pPr>
                      <a:r>
                        <a:t>Documentation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303F"/>
                          </a:solidFill>
                        </a:defRPr>
                      </a:pPr>
                      <a:r>
                        <a:t>docs/Air_Tracker_Flight_Analytics_Project_Report.docx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945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303F"/>
                          </a:solidFill>
                        </a:defRPr>
                      </a:pPr>
                      <a:r>
                        <a:t>Dependencies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5303F"/>
                          </a:solidFill>
                        </a:defRPr>
                      </a:pPr>
                      <a:r>
                        <a:t>requirements.txt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0" y="5166360"/>
            <a:ext cx="50292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>
              <a:defRPr sz="1100" b="1">
                <a:solidFill>
                  <a:srgbClr val="697482"/>
                </a:solidFill>
              </a:defRPr>
            </a:pPr>
            <a:r>
              <a:t>GITHUB</a:t>
            </a:r>
          </a:p>
          <a:p>
            <a:pPr>
              <a:defRPr sz="1500" b="1">
                <a:solidFill>
                  <a:srgbClr val="0C1930"/>
                </a:solidFill>
              </a:defRPr>
            </a:pPr>
            <a:r>
              <a:t>rockeerocky337 / Flight_Analytics_Project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482"/>
                </a:solidFill>
              </a:defRPr>
            </a:pPr>
            <a:r>
              <a:t>Air Tracker – Flight Analytics  |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3D7EE"/>
                </a:solidFill>
              </a:defRPr>
            </a:pPr>
            <a:r>
              <a:t>Air Tracker successfully integrates flight datasets, MySQL, SQL analytics, Python and Streamlit into a working flight analytics solution.</a:t>
            </a:r>
          </a:p>
          <a:p>
            <a:pPr algn="ctr">
              <a:defRPr sz="1500">
                <a:solidFill>
                  <a:srgbClr val="AAC3DC"/>
                </a:solidFill>
              </a:defRPr>
            </a:pPr>
            <a:r>
              <a:t>Core database, required SQL analysis, GitHub repository and interactive dashboard are completed.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86200" y="4983480"/>
            <a:ext cx="44348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/>
          <a:lstStyle/>
          <a:p>
            <a:pPr algn="ctr">
              <a:defRPr sz="1100" b="1">
                <a:solidFill>
                  <a:srgbClr val="697482"/>
                </a:solidFill>
              </a:defRPr>
            </a:pPr>
            <a:r>
              <a:t>PROJECT VERSION</a:t>
            </a:r>
          </a:p>
          <a:p>
            <a:pPr>
              <a:defRPr sz="1500" b="1">
                <a:solidFill>
                  <a:srgbClr val="1FAAC4"/>
                </a:solidFill>
              </a:defRPr>
            </a:pPr>
            <a:r>
              <a:t>v1.0.0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482"/>
                </a:solidFill>
              </a:defRPr>
            </a:pPr>
            <a:r>
              <a:t>Air Tracker – Flight Analytics  |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